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0" r:id="rId13"/>
    <p:sldId id="265" r:id="rId14"/>
    <p:sldId id="266" r:id="rId15"/>
    <p:sldId id="267" r:id="rId16"/>
    <p:sldId id="268" r:id="rId17"/>
  </p:sldIdLst>
  <p:sldSz cx="12192000" cy="6858000"/>
  <p:notesSz cx="6858000" cy="9144000"/>
  <p:embeddedFontLst>
    <p:embeddedFont>
      <p:font typeface="Calibri" panose="020F0502020204030204"/>
      <p:regular r:id="rId21"/>
      <p:bold r:id="rId22"/>
      <p:italic r:id="rId23"/>
      <p:boldItalic r:id="rId24"/>
    </p:embeddedFont>
    <p:embeddedFont>
      <p:font typeface="Urbanist" panose="020B0A04040200000203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CCA77CE-FED2-4175-AE54-0B869DC0B2BB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9" name="Google Shape;259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01812" y="2247900"/>
            <a:ext cx="938822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B82F6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BÁO CÁO DỰ ÁN</a:t>
            </a:r>
            <a:endParaRPr lang="en-US" sz="1350" b="0" i="0" u="none" strike="noStrike" cap="none">
              <a:solidFill>
                <a:srgbClr val="3B82F6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167106" y="2600325"/>
            <a:ext cx="985763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Xây dựng Chatbot Tư vấn Phim Rạp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5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với </a:t>
            </a:r>
            <a:r>
              <a:rPr lang="en-US" sz="4500" b="1" i="0" u="none" strike="noStrike" cap="none">
                <a:solidFill>
                  <a:srgbClr val="3B82F6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n8n &amp; Google Gemini</a:t>
            </a:r>
            <a:endParaRPr lang="en-US" sz="4500" b="1" i="0" u="none" strike="noStrike" cap="none">
              <a:solidFill>
                <a:srgbClr val="3B82F6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401812" y="4257675"/>
            <a:ext cx="938822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Tập trung: Cơ sở Lý thuyết &amp; Triển khai Thực nghiệm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2767012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75297" y="2995612"/>
            <a:ext cx="624140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Phần 1: Cơ sở Lý thuyết</a:t>
            </a:r>
            <a:endParaRPr lang="en-US" sz="45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123902" y="3852862"/>
            <a:ext cx="594419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Kiến trúc hệ thống và các công nghệ nền tảng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862262"/>
            <a:ext cx="5334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2862262"/>
            <a:ext cx="53340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866775" y="3157537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3B82F6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Nguyên lý cốt lõi</a:t>
            </a:r>
            <a:endParaRPr lang="en-US" sz="1405" b="1" i="0" u="none" strike="noStrike" cap="none">
              <a:solidFill>
                <a:srgbClr val="3B82F6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866775" y="3548062"/>
            <a:ext cx="4743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Thiết kế và thực thi quy trình dựa trên các quy tắc logic xác định. Sử dụng xu hướng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Low-code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để tối ưu hóa thời gian phát triển và tập trung vào logic nghiệp vụ.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581775" y="3157537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3B82F6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Cơ chế Event-driven</a:t>
            </a:r>
            <a:endParaRPr lang="en-US" sz="1405" b="1" i="0" u="none" strike="noStrike" cap="none">
              <a:solidFill>
                <a:srgbClr val="3B82F6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581775" y="3548062"/>
            <a:ext cx="4743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Hoạt động dựa trên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Trigger-based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(Kích hoạt sự kiện). Đảm bảo tài nguyên chỉ tiêu thụ khi có yêu cầu thực tế từ người dùng Telegram.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66775" y="3176587"/>
            <a:ext cx="2190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81775" y="3176587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Công nghệ Tự động hóa (Workflow)</a:t>
            </a:r>
            <a:endParaRPr lang="en-US" sz="33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91928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192881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6286500" y="2814637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1. Workflow Engine: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Bộ xử lý trung tâm chạy trên Node.js, truyền nhận dữ liệu qua JSON linh hoạt.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286500" y="3567112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2. Webhook &amp; Tunneling: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Sử dụng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ngrok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để tạo đường dẫn HTTPS công khai cho Localhost, kết nối an toàn với Telegram API.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6286500" y="4319587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3. Docker Isolation: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Đóng gói môi trường chạy, đảm bảo tính nhất quán giữa local và cloud.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Kiến trúc n8n trên Docker</a:t>
            </a:r>
            <a:endParaRPr lang="en-US" sz="33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876425"/>
            <a:ext cx="5334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048125"/>
            <a:ext cx="533400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866775" y="2171700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Prompt Engineering</a:t>
            </a:r>
            <a:endParaRPr lang="en-US" sz="18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66775" y="2619375"/>
            <a:ext cx="4743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Sử dụng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System Prompt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để định hình Persona (Nhân cách chuyên gia điện ảnh). Giới hạn phạm vi kiến thức và văn phong trả lời.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866775" y="4343400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Contextual Memory</a:t>
            </a:r>
            <a:endParaRPr lang="en-US" sz="18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866775" y="4791075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Khả năng lưu giữ ngữ cảnh hội thoại ngắn hạn. Giúp bot hiểu các câu hỏi nối tiếp (ví dụ: "Phim đó chiếu ở rạp nào?").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Mô hình AI tạo sinh &amp; AI Agent</a:t>
            </a:r>
            <a:endParaRPr lang="en-US" sz="33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240450" y="2171700"/>
            <a:ext cx="559595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5715000" y="2767012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842655" y="2995612"/>
            <a:ext cx="85066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Phần 2: Triển khai Thực nghiệm</a:t>
            </a:r>
            <a:endParaRPr lang="en-US" sz="45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2045196" y="3852862"/>
            <a:ext cx="810160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Quy trình cài đặt và kết quả vận hành thực tế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714625"/>
            <a:ext cx="261937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381375" y="2714625"/>
            <a:ext cx="261937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91250" y="2714625"/>
            <a:ext cx="261937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001125" y="2714625"/>
            <a:ext cx="261937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643062" y="30003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806053" y="3571875"/>
            <a:ext cx="21502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Docker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857250" y="3962400"/>
            <a:ext cx="2047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image: n8nio/n8n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Port: 5678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57" name="Google Shape;157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452937" y="30003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3615928" y="3571875"/>
            <a:ext cx="21502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ngrok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3667125" y="3962400"/>
            <a:ext cx="2047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 Tunneling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Public Webhook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60" name="Google Shape;160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315200" y="3000375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6425803" y="3571875"/>
            <a:ext cx="21502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Bot API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6477000" y="3962400"/>
            <a:ext cx="2047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Telegram Token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@BotFather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63" name="Google Shape;163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0120312" y="30003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9235678" y="3571875"/>
            <a:ext cx="21502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Gemini API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9286875" y="3962400"/>
            <a:ext cx="2047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model: 2.0-flash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Temp: 0.8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Môi trường &amp; Công cụ triển khai</a:t>
            </a:r>
            <a:endParaRPr lang="en-US" sz="33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571500" y="57150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Thiết kế Workflow n8n</a:t>
            </a:r>
            <a:endParaRPr lang="en-US" sz="33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1514475"/>
            <a:ext cx="495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Trigger: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Lắng nghe tin nhắn mới.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1962150"/>
            <a:ext cx="495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Memory: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Truy vấn lịch sử theo chat_id.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2409825"/>
            <a:ext cx="495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AI Agent: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Phân tích ý định &amp; tạo câu trả lời.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2857500"/>
            <a:ext cx="495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Output: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Gửi tin nhắn Telegram.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78" name="Google Shape;178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5478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9954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431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8908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67100" y="1447463"/>
            <a:ext cx="7953774" cy="39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347912"/>
            <a:ext cx="54292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91250" y="2347912"/>
            <a:ext cx="54292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967162"/>
            <a:ext cx="54292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191250" y="3967162"/>
            <a:ext cx="542925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771525" y="2719387"/>
            <a:ext cx="502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B1: Khởi tạo ngrok</a:t>
            </a:r>
            <a:endParaRPr lang="en-US" sz="1350" b="1" i="0" u="none" strike="noStrike" cap="none">
              <a:solidFill>
                <a:srgbClr val="3B82F6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771525" y="3148012"/>
            <a:ext cx="5029200" cy="2952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819150" y="3195637"/>
            <a:ext cx="4933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ngrok http 5678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391275" y="2719387"/>
            <a:ext cx="502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B2: Chạy Docker</a:t>
            </a:r>
            <a:endParaRPr lang="en-US" sz="1350" b="1" i="0" u="none" strike="noStrike" cap="none">
              <a:solidFill>
                <a:srgbClr val="3B82F6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6391275" y="3148012"/>
            <a:ext cx="5029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Set WEBHOOK_URL = ngrok URL trong docker-compose.yml</a:t>
            </a:r>
            <a:endParaRPr lang="en-US" sz="10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771525" y="4338637"/>
            <a:ext cx="502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B3: Cấu hình n8n</a:t>
            </a:r>
            <a:endParaRPr lang="en-US" sz="1350" b="1" i="0" u="none" strike="noStrike" cap="none">
              <a:solidFill>
                <a:srgbClr val="3B82F6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771525" y="4767262"/>
            <a:ext cx="5029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Kết nối Telegram Trigger -&gt; AI Agent -&gt; Send Message.</a:t>
            </a:r>
            <a:endParaRPr lang="en-US" sz="10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6391275" y="4338637"/>
            <a:ext cx="502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B4: Tinh chỉnh AI</a:t>
            </a:r>
            <a:endParaRPr lang="en-US" sz="1350" b="1" i="0" u="none" strike="noStrike" cap="none">
              <a:solidFill>
                <a:srgbClr val="3B82F6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391275" y="4767262"/>
            <a:ext cx="5029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Thiết lập System Message &amp; Session Key cho Memory.</a:t>
            </a:r>
            <a:endParaRPr lang="en-US" sz="10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Các bước thực thi hệ thống</a:t>
            </a:r>
            <a:endParaRPr lang="en-US" sz="33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62000" y="571500"/>
            <a:ext cx="11401425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Kết quả thực nghiệm</a:t>
            </a:r>
            <a:endParaRPr lang="en-US" sz="33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25" y="1261110"/>
            <a:ext cx="6560185" cy="5254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71500" y="48910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Hệ thống hiểu tốt tiếng lóng, duy trì ngữ cảnh 80% trường hợp thử nghiệm (4-6 câu hội thoại).</a:t>
            </a:r>
            <a:endParaRPr lang="en-US" sz="1350" b="0" i="1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2328862"/>
            <a:ext cx="5334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B82F6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5-7s</a:t>
            </a:r>
            <a:endParaRPr lang="en-US" sz="7500" b="1" i="0" u="none" strike="noStrike" cap="none">
              <a:solidFill>
                <a:srgbClr val="3B82F6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3509962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Độ trễ trung bình</a:t>
            </a:r>
            <a:endParaRPr lang="en-US" sz="1800" b="0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4081462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(Latency)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6286500" y="2328862"/>
            <a:ext cx="5334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B82F6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90%</a:t>
            </a:r>
            <a:endParaRPr lang="en-US" sz="7500" b="1" i="0" u="none" strike="noStrike" cap="none">
              <a:solidFill>
                <a:srgbClr val="3B82F6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6286500" y="3509962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Độ chính xác</a:t>
            </a:r>
            <a:endParaRPr lang="en-US" sz="1800" b="0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6286500" y="4081462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(Accuracy)</a:t>
            </a:r>
            <a:endParaRPr lang="en-US" sz="13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Đánh giá kết quả thực nghiệm</a:t>
            </a:r>
            <a:endParaRPr lang="en-US" sz="33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" name="Google Shape;222;p23"/>
          <p:cNvGraphicFramePr/>
          <p:nvPr/>
        </p:nvGraphicFramePr>
        <p:xfrm>
          <a:off x="571500" y="2543175"/>
          <a:ext cx="11049000" cy="3000000"/>
        </p:xfrm>
        <a:graphic>
          <a:graphicData uri="http://schemas.openxmlformats.org/drawingml/2006/table">
            <a:tbl>
              <a:tblPr firstRow="1" bandRow="1">
                <a:noFill/>
                <a:tableStyleId>{CCCA77CE-FED2-4175-AE54-0B869DC0B2BB}</a:tableStyleId>
              </a:tblPr>
              <a:tblGrid>
                <a:gridCol w="4112725"/>
                <a:gridCol w="6936275"/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Vấn đề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Giải pháp thực hiện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Lỗi "Bad Webhook: HTTPS required"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Sử dụng </a:t>
                      </a: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ngrok tunnel</a:t>
                      </a: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 cung cấp URL HTTPS public.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Lỗi "Parse Entities" (Ký tự đặc biệt)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Tắt Parse Mode (chuyển về </a:t>
                      </a: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None</a:t>
                      </a: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) trong node Send Message.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Mất ngữ cảnh (Context loss)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Gán Session Key thủ công theo </a:t>
                      </a: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chat_id</a:t>
                      </a: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 trong Memory Node.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AI lặp lại hoặc cứng nhắc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Tăng </a:t>
                      </a: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Temperature lên 0.8</a:t>
                      </a: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 &amp; tối ưu System Prompt.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23"/>
          <p:cNvSpPr/>
          <p:nvPr/>
        </p:nvSpPr>
        <p:spPr>
          <a:xfrm>
            <a:off x="571500" y="3624262"/>
            <a:ext cx="41127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4684216" y="3624262"/>
            <a:ext cx="69362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71500" y="4176712"/>
            <a:ext cx="41127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4684216" y="4176712"/>
            <a:ext cx="69362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71500" y="4729162"/>
            <a:ext cx="41127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4684216" y="4729162"/>
            <a:ext cx="69362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71500" y="5281612"/>
            <a:ext cx="41127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4684216" y="5281612"/>
            <a:ext cx="69362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Thách thức &amp; Giải pháp khắc phục</a:t>
            </a:r>
            <a:endParaRPr lang="en-US" sz="33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" name="Google Shape;238;p24"/>
          <p:cNvGraphicFramePr/>
          <p:nvPr/>
        </p:nvGraphicFramePr>
        <p:xfrm>
          <a:off x="571500" y="2543175"/>
          <a:ext cx="11049025" cy="3000000"/>
        </p:xfrm>
        <a:graphic>
          <a:graphicData uri="http://schemas.openxmlformats.org/drawingml/2006/table">
            <a:tbl>
              <a:tblPr firstRow="1" bandRow="1">
                <a:noFill/>
                <a:tableStyleId>{CCCA77CE-FED2-4175-AE54-0B869DC0B2BB}</a:tableStyleId>
              </a:tblPr>
              <a:tblGrid>
                <a:gridCol w="2467875"/>
                <a:gridCol w="2484250"/>
                <a:gridCol w="3023900"/>
                <a:gridCol w="3073000"/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Tiêu chí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Python/Node.js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Dialogflow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n8n (Dự án)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Cách phát triển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Code thuần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Tạo Intent thủ công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Low-code (Kéo thả)</a:t>
                      </a:r>
                      <a:endParaRPr lang="en-US" sz="1350" b="1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Độ linh hoạt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Cao nhất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Trung bình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Cao</a:t>
                      </a:r>
                      <a:endParaRPr lang="en-US" sz="1350" b="1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Tích hợp AI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Phức tạp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Có sẵn hệ Google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Dễ dàng (AI Node)</a:t>
                      </a:r>
                      <a:endParaRPr lang="en-US" sz="1350" b="1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Bảo trì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Khó (Đọc code)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Trung bình</a:t>
                      </a:r>
                      <a:endParaRPr lang="en-US" sz="13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Dễ (Nhìn sơ đồ)</a:t>
                      </a:r>
                      <a:endParaRPr lang="en-US" sz="1350" b="1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24"/>
          <p:cNvSpPr/>
          <p:nvPr/>
        </p:nvSpPr>
        <p:spPr>
          <a:xfrm>
            <a:off x="571500" y="3624262"/>
            <a:ext cx="24678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3039367" y="3624262"/>
            <a:ext cx="24842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5523607" y="3624262"/>
            <a:ext cx="30238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8547496" y="3624262"/>
            <a:ext cx="30730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571500" y="4176712"/>
            <a:ext cx="24678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3039367" y="4176712"/>
            <a:ext cx="24842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5523607" y="4176712"/>
            <a:ext cx="30238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8547496" y="4176712"/>
            <a:ext cx="30730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71500" y="4729162"/>
            <a:ext cx="24678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3039367" y="4729162"/>
            <a:ext cx="24842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5523607" y="4729162"/>
            <a:ext cx="30238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8547496" y="4729162"/>
            <a:ext cx="30730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71500" y="5281612"/>
            <a:ext cx="24678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3039367" y="5281612"/>
            <a:ext cx="24842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523607" y="5281612"/>
            <a:ext cx="30238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8547496" y="5281612"/>
            <a:ext cx="30730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 sánh các giải pháp phát triển</a:t>
            </a:r>
            <a:endParaRPr lang="en-US" sz="33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2821528" y="2376487"/>
            <a:ext cx="654894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Cảm ơn!</a:t>
            </a:r>
            <a:endParaRPr lang="en-US" sz="60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2977455" y="3481387"/>
            <a:ext cx="6237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Bạn có câu hỏi nào cho phần Lý thuyết &amp; Thực nghiệm không?</a:t>
            </a:r>
            <a:endParaRPr lang="en-US" sz="180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2776</Words>
  <Application>WPS Presentation</Application>
  <PresentationFormat/>
  <Paragraphs>174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Urbanist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locga</cp:lastModifiedBy>
  <cp:revision>1</cp:revision>
  <dcterms:created xsi:type="dcterms:W3CDTF">2026-02-05T13:10:48Z</dcterms:created>
  <dcterms:modified xsi:type="dcterms:W3CDTF">2026-02-05T13:10:51Z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6D5E541B97CB460DBBEF6CEC23A15340_12</vt:lpwstr>
  </property>
  <property fmtid="{D5CDD505-2E9C-101B-9397-08002B2CF9AE}" pid="3" name="KSOProductBuildVer">
    <vt:lpwstr>1033-12.1.0.25180</vt:lpwstr>
  </property>
</Properties>
</file>